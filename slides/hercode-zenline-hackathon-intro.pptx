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b35f7e8e4a46b6" /><Relationship Type="http://schemas.openxmlformats.org/officeDocument/2006/relationships/extended-properties" Target="/docProps/app.xml" Id="Ra3fa38093f3646ce" /><Relationship Type="http://schemas.openxmlformats.org/officeDocument/2006/relationships/officeDocument" Target="/ppt/presentation.xml" Id="Rb3a1e28efc54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af54ab80746bc"/>
  </p:sldMasterIdLst>
  <p:notesMasterIdLst>
    <p:notesMasterId xmlns:r="http://schemas.openxmlformats.org/officeDocument/2006/relationships" r:id="R14a4f2166e5a4e4f"/>
  </p:notesMasterIdLst>
  <p:sldIdLst>
    <p:sldId xmlns:r="http://schemas.openxmlformats.org/officeDocument/2006/relationships" id="256" r:id="R90d8a3222aff4fbe"/>
    <p:sldId xmlns:r="http://schemas.openxmlformats.org/officeDocument/2006/relationships" id="257" r:id="R99554c2c548744bb"/>
    <p:sldId xmlns:r="http://schemas.openxmlformats.org/officeDocument/2006/relationships" id="258" r:id="R14aeb089d0bd42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040aecc8b04f5d" /><Relationship Type="http://schemas.openxmlformats.org/officeDocument/2006/relationships/slideMaster" Target="/ppt/slideMasters/slideMaster1.xml" Id="Rc4baf54ab80746bc" /><Relationship Type="http://schemas.openxmlformats.org/officeDocument/2006/relationships/notesMaster" Target="/ppt/notesMasters/notesMaster1.xml" Id="R14a4f2166e5a4e4f" /><Relationship Type="http://schemas.openxmlformats.org/officeDocument/2006/relationships/presProps" Target="/ppt/presProps.xml" Id="R21c7dfe534b44474" /><Relationship Type="http://schemas.openxmlformats.org/officeDocument/2006/relationships/tableStyles" Target="/ppt/tableStyles.xml" Id="Rb22c2fba98d74d4a" /><Relationship Type="http://schemas.openxmlformats.org/officeDocument/2006/relationships/slide" Target="/ppt/slides/slide1.xml" Id="R90d8a3222aff4fbe" /><Relationship Type="http://schemas.openxmlformats.org/officeDocument/2006/relationships/slide" Target="/ppt/slides/slide2.xml" Id="R99554c2c548744bb" /><Relationship Type="http://schemas.openxmlformats.org/officeDocument/2006/relationships/slide" Target="/ppt/slides/slide3.xml" Id="R14aeb089d0bd42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37983b0d5e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6a7789e11e4e30" /><Relationship Type="http://schemas.openxmlformats.org/officeDocument/2006/relationships/notesMaster" Target="/ppt/notesMasters/notesMaster1.xml" Id="Rede6a9749216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42557b255649e7" /><Relationship Type="http://schemas.openxmlformats.org/officeDocument/2006/relationships/notesMaster" Target="/ppt/notesMasters/notesMaster1.xml" Id="Rcf3d97a767a945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2bc6b908542ab" /><Relationship Type="http://schemas.openxmlformats.org/officeDocument/2006/relationships/notesMaster" Target="/ppt/notesMasters/notesMaster1.xml" Id="R8418e2e20868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challenge as a real retail problem: retailers need to identify opportunities before clean sales history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teams can improve one module: source collection, scoring, dashboard, API, report, or handoff. They do not need to build an entire enterprise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submission path: fork the repo, complete SUBMISSION.md, push final work before 16:30, and include visuals or a short video if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062131ec94a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c6a15c185d4950" /><Relationship Type="http://schemas.openxmlformats.org/officeDocument/2006/relationships/slideLayout" Target="/ppt/slideLayouts/slideLayout1.xml" Id="R6d2cc7af1c60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2cc7af1c60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0e4dcdf4b4290" /><Relationship Type="http://schemas.openxmlformats.org/officeDocument/2006/relationships/image" Target="/ppt/media/image.png" Id="R661ba91e1d2f48e6" /><Relationship Type="http://schemas.openxmlformats.org/officeDocument/2006/relationships/notesSlide" Target="/ppt/notesSlides/notesSlide1.xml" Id="Ra34b09f5625b44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1dfaee43b4cbc" /><Relationship Type="http://schemas.openxmlformats.org/officeDocument/2006/relationships/image" Target="/ppt/media/image2.png" Id="Rb52efca336ec4d35" /><Relationship Type="http://schemas.openxmlformats.org/officeDocument/2006/relationships/notesSlide" Target="/ppt/notesSlides/notesSlide2.xml" Id="R179d83051f84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e058a47640b1" /><Relationship Type="http://schemas.openxmlformats.org/officeDocument/2006/relationships/notesSlide" Target="/ppt/notesSlides/notesSlide3.xml" Id="R6e2ad7c55ebf4e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ba91e1d2f48e6"/>
          <a:srcRect xmlns:a="http://schemas.openxmlformats.org/drawingml/2006/main" l="24049" t="0" r="240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0"/>
            <a:ext cx="63246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95CD8-828A-40B2-9BD4-54E93A55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A554E-10E8-4D16-AF05-E8A0CB6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9B7D6"/>
                </a:solidFill>
              </a:defRPr>
            </a:pPr>
            <a:r>
              <a:rPr sz="975" b="1">
                <a:solidFill>
                  <a:srgbClr val="69B7D6"/>
                </a:solidFill>
              </a:rPr>
              <a:t>HERCODE x ZENLINE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FB52E-3B66-4763-B3E4-40CCB7AC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5048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C"/>
                </a:solidFill>
              </a:defRPr>
            </a:pPr>
            <a:r>
              <a:rPr sz="4350" b="1">
                <a:solidFill>
                  <a:srgbClr val="F7F4EC"/>
                </a:solidFill>
              </a:rPr>
              <a:t>Build the retail radar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A532B-437B-495A-A4D1-6BBFFB40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CE8DF"/>
                </a:solidFill>
              </a:defRPr>
            </a:pPr>
            <a:r>
              <a:rPr sz="1725" b="0">
                <a:solidFill>
                  <a:srgbClr val="DCE8DF"/>
                </a:solidFill>
              </a:rPr>
              <a:t>Zenline is the B2B side: turn messy global signals into a recommendation a Swiss retailer could act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6DF8D-CBF6-4520-A4E7-959D454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123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3D2E"/>
                </a:solidFill>
              </a:defRPr>
            </a:pPr>
            <a:r>
              <a:rPr sz="1200" b="1">
                <a:solidFill>
                  <a:srgbClr val="0F3D2E"/>
                </a:solidFill>
              </a:rPr>
              <a:t>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A0630-84F2-47F4-97FA-2E974A92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200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3D2E"/>
                </a:solidFill>
              </a:defRPr>
            </a:pPr>
            <a:r>
              <a:rPr sz="1200" b="1">
                <a:solidFill>
                  <a:srgbClr val="0F3D2E"/>
                </a:solidFill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86DB2-1618-42DD-B11C-AD7DF6A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9906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3493A-F165-436B-8D1C-015E0F19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4EC"/>
                </a:solidFill>
              </a:defRPr>
            </a:pPr>
            <a:r>
              <a:rPr sz="1275" b="1">
                <a:solidFill>
                  <a:srgbClr val="F7F4EC"/>
                </a:solidFill>
              </a:rPr>
              <a:t>June 19, 2026 | Teams of 2-4 | Submit your fork by 16:30 CEST</a:t>
            </a:r>
          </a:p>
        </p:txBody>
      </p:sp>
    </p:spTree>
    <p:extLst>
      <p:ext uri="{BB962C8B-B14F-4D97-AF65-F5344CB8AC3E}">
        <p14:creationId xmlns:p14="http://schemas.microsoft.com/office/powerpoint/2010/main" val="1140195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A0885-1F2B-4DBB-A7E2-4EC00859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3D2E"/>
                </a:solidFill>
              </a:defRPr>
            </a:pPr>
            <a:r>
              <a:rPr sz="3150" b="1">
                <a:solidFill>
                  <a:srgbClr val="0F3D2E"/>
                </a:solidFill>
              </a:rPr>
              <a:t>The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46A2-9D3B-48FE-A812-8495B84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6544D"/>
                </a:solidFill>
              </a:defRPr>
            </a:pPr>
            <a:r>
              <a:rPr sz="1650" b="0">
                <a:solidFill>
                  <a:srgbClr val="46544D"/>
                </a:solidFill>
              </a:rPr>
              <a:t>Zenline: what to stock. Scandit: how shoppers find it.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efca336ec4d35"/>
          <a:srcRect xmlns:a="http://schemas.openxmlformats.org/drawingml/2006/main" l="6323" t="0" r="63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590550"/>
            <a:ext cx="4819650" cy="3105150"/>
          </a:xfrm>
          <a:prstGeom xmlns:a="http://schemas.openxmlformats.org/drawingml/2006/main" prst="roundRect">
            <a:avLst>
              <a:gd name="adj" fmla="val 674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1200A-C027-4D23-8635-276FF916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D58DE-184B-494C-82C0-81B0791B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917F8-97A8-442D-B1C7-0CF69EF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A169F-9857-4E0A-B8FB-D124FED7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Web, trends, social, marketplaces, competitors, custom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C7BFF-306B-4935-AE7C-FFC5394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478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BBA59-7CC0-414B-9E8F-DCD0872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19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70CC3-2BD9-4BCB-8C76-9B375012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Normalize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6112-F0BA-4CBD-BADC-7C6B57A9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76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Deduplicate sources and preserve URLs, markets, and limitations.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3C824-9EB4-4EA6-9AA6-8278212A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26203-6C79-4815-9980-01EC4AF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43A04-BC5B-49D9-A712-B5591DFB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F9896-8B14-4D57-A09F-1874AEDF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Rank signals by strength, confidence, transferability, and gaps.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D376F-EA7A-4810-BFEB-A57D8543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DACF5-8497-4135-8BBB-208A03A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20B6D-F267-4C4A-823B-2FAE9395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3D2E"/>
                </a:solidFill>
              </a:defRPr>
            </a:pPr>
            <a:r>
              <a:rPr sz="1575" b="1">
                <a:solidFill>
                  <a:srgbClr val="0F3D2E"/>
                </a:solidFill>
              </a:rPr>
              <a:t>Recommend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F39FE-01B6-4C0D-A6D5-E6F798ED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Tell the retailer what to test, buy, launch, or monitor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524D5-6C00-4C7D-914A-391234D9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481965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11430">
            <a:solidFill>
              <a:srgbClr val="0F3D2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CB0B5-1C35-4493-BDCE-4F61381B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7D6"/>
                </a:solidFill>
              </a:defRPr>
            </a:pPr>
            <a:r>
              <a:rPr sz="1350" b="1">
                <a:solidFill>
                  <a:srgbClr val="69B7D6"/>
                </a:solidFill>
              </a:rPr>
              <a:t>Shared retail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25612-86D2-4D25-B15D-F915A85E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910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4EC"/>
                </a:solidFill>
              </a:defRPr>
            </a:pPr>
            <a:r>
              <a:rPr sz="1425" b="0">
                <a:solidFill>
                  <a:srgbClr val="F7F4EC"/>
                </a:solidFill>
              </a:rPr>
              <a:t>Market signals -&gt; assortment decision -&gt; in-store shopper experience. Your task is the upstream B2B intelligence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3A9FC-8873-4369-B8F8-FC69805A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67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CE8DF"/>
                </a:solidFill>
              </a:defRPr>
            </a:pPr>
            <a:r>
              <a:rPr sz="1275" b="1">
                <a:solidFill>
                  <a:srgbClr val="DCE8DF"/>
                </a:solidFill>
              </a:rPr>
              <a:t>Reusable beyond outdoor.</a:t>
            </a:r>
          </a:p>
        </p:txBody>
      </p:sp>
    </p:spTree>
    <p:extLst>
      <p:ext uri="{BB962C8B-B14F-4D97-AF65-F5344CB8AC3E}">
        <p14:creationId xmlns:p14="http://schemas.microsoft.com/office/powerpoint/2010/main" val="854043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AE478-FD6A-411D-B8F2-77EDF67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C"/>
                </a:solidFill>
              </a:defRPr>
            </a:pPr>
            <a:r>
              <a:rPr sz="3150" b="1">
                <a:solidFill>
                  <a:srgbClr val="F7F4EC"/>
                </a:solidFill>
              </a:rPr>
              <a:t>What to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2F15-7B9F-4B0E-8373-8D9B643B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8DF"/>
                </a:solidFill>
              </a:defRPr>
            </a:pPr>
            <a:r>
              <a:rPr sz="1650" b="0">
                <a:solidFill>
                  <a:srgbClr val="DCE8DF"/>
                </a:solidFill>
              </a:rPr>
              <a:t>Fork the repo, build your solution, and make the output easy for the jury to inspect.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98574-9D09-4FEF-BC8C-FBCA0FE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D8C1-1447-4B55-AE7E-963F443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Code +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9A7BD-2266-4713-86A0-47CA2F07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Scripts, notebook, dashboard, API, or workflow with run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9A88C-5220-4072-A52D-86FB21B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917BE-224A-4236-A2D8-2461D473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Evidence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1323D-0320-419F-BA03-066B1808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URLs, source names, data files, screenshots, and confidence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3C8E5-D79F-4E12-95F5-09C23D31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F090F-B67A-440B-994B-1758F472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Ranked opportunities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64587-414E-4ED8-A6DF-ECFE376A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What appears first, why it matters, and what to do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108E9-C36F-47F5-9D0B-C43C62C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35623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7FD1C-7DE5-4B1F-B6B9-74EE3BEC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Demo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C00E3-AEC2-4925-ABD3-2CA533C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6544D"/>
                </a:solidFill>
              </a:defRPr>
            </a:pPr>
            <a:r>
              <a:rPr sz="1200" b="0">
                <a:solidFill>
                  <a:srgbClr val="46544D"/>
                </a:solidFill>
              </a:rPr>
              <a:t>Visualization, dashboard explanation, or optional short video walkthrough.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2BFAB-44E7-450D-A713-929C3F5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724150" cy="29718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7511B-4DD2-4F00-9817-5B11A1F9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3D2E"/>
                </a:solidFill>
              </a:defRPr>
            </a:pPr>
            <a:r>
              <a:rPr sz="2025" b="1">
                <a:solidFill>
                  <a:srgbClr val="0F3D2E"/>
                </a:solidFill>
              </a:rPr>
              <a:t>How to 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48424-A8C9-4384-AA7D-5F941DB3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Real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3D9A5-A160-4CAF-A579-90BEE1AB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Source-backed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64EC8-4212-4355-B174-7060493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CH/DACH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2EC3B-54E5-46C1-B3FE-339F7191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B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Clear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70F88-A823-4B9A-A7D5-0D4019F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1885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4EC"/>
                </a:solidFill>
              </a:defRPr>
            </a:pPr>
            <a:r>
              <a:rPr sz="1200" b="1">
                <a:solidFill>
                  <a:srgbClr val="F7F4EC"/>
                </a:solidFill>
              </a:rPr>
              <a:t>Reusable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F3D22-8767-4003-8D2D-07013276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E0958-0723-41F5-B048-89D67C1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3D2E"/>
                </a:solidFill>
              </a:defRPr>
            </a:pPr>
            <a:r>
              <a:rPr sz="1725" b="1">
                <a:solidFill>
                  <a:srgbClr val="0F3D2E"/>
                </a:solidFill>
              </a:rPr>
              <a:t>Pre-submit 15:00 CEST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B05CF-C6B2-4B07-B19F-41FA99F1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05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4A"/>
                </a:solidFill>
              </a:defRPr>
            </a:pPr>
            <a:r>
              <a:rPr sz="1725" b="1">
                <a:solidFill>
                  <a:srgbClr val="FF6B4A"/>
                </a:solidFill>
              </a:rPr>
              <a:t>Final fork due 16:30 CEST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11CB38-1065-4DD4-8895-99ECE80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769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3D2E"/>
                </a:solidFill>
              </a:defRPr>
            </a:pPr>
            <a:r>
              <a:rPr sz="1350" b="1">
                <a:solidFill>
                  <a:srgbClr val="0F3D2E"/>
                </a:solidFill>
              </a:rPr>
              <a:t>Repo: zenline-ch/hercode-zenline-hackathon</a:t>
            </a:r>
          </a:p>
        </p:txBody>
      </p:sp>
    </p:spTree>
    <p:extLst>
      <p:ext uri="{BB962C8B-B14F-4D97-AF65-F5344CB8AC3E}">
        <p14:creationId xmlns:p14="http://schemas.microsoft.com/office/powerpoint/2010/main" val="551280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2026-06-17T07:44:57.5010000Z</dcterms:created>
  <dcterms:modified xsi:type="dcterms:W3CDTF">2026-06-17T07:44:57.5010000Z</dcterms:modified>
</coreProperties>
</file>